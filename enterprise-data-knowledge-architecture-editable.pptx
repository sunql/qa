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45" d="100"/>
          <a:sy n="145" d="100"/>
        </p:scale>
        <p:origin x="-200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JetBrains Mono"/>
              </a:rPr>
              <a:t>企业数据与知识架构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>
                <a:solidFill>
                  <a:srgbClr val="94A3B8"/>
                </a:solidFill>
                <a:latin typeface="JetBrains Mono"/>
              </a:rPr>
              <a:t>数据源 → 数据底座 → 数据中台 → 企业应用，LLM Wiki 知识层与数据双向绑定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9144000" cy="914400"/>
          </a:xfrm>
          <a:prstGeom prst="roundRect">
            <a:avLst/>
          </a:prstGeom>
          <a:solidFill>
            <a:srgbClr val="051D2E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etBrains Mono"/>
              </a:rPr>
              <a:t>企业应用层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832103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22D3EE"/>
                </a:solidFill>
                <a:latin typeface="JetBrains Mono"/>
              </a:rPr>
              <a:t>Enterprise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60120"/>
            <a:ext cx="2103120" cy="292608"/>
          </a:xfrm>
          <a:prstGeom prst="roundRect">
            <a:avLst/>
          </a:prstGeom>
          <a:solidFill>
            <a:srgbClr val="082E4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JetBrains Mono"/>
              </a:rPr>
              <a:t>BI 报表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960120"/>
            <a:ext cx="2103120" cy="292608"/>
          </a:xfrm>
          <a:prstGeom prst="roundRect">
            <a:avLst/>
          </a:prstGeom>
          <a:solidFill>
            <a:srgbClr val="082E4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JetBrains Mono"/>
              </a:rPr>
              <a:t>经营分析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960120"/>
            <a:ext cx="2103120" cy="292608"/>
          </a:xfrm>
          <a:prstGeom prst="roundRect">
            <a:avLst/>
          </a:prstGeom>
          <a:solidFill>
            <a:srgbClr val="082E4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JetBrains Mono"/>
              </a:rPr>
              <a:t>AI 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960120"/>
            <a:ext cx="2103120" cy="292608"/>
          </a:xfrm>
          <a:prstGeom prst="roundRect">
            <a:avLst/>
          </a:prstGeom>
          <a:solidFill>
            <a:srgbClr val="082E4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JetBrains Mono"/>
              </a:rPr>
              <a:t>Agent 智能体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1307592"/>
            <a:ext cx="2103120" cy="292608"/>
          </a:xfrm>
          <a:prstGeom prst="roundRect">
            <a:avLst/>
          </a:prstGeom>
          <a:solidFill>
            <a:srgbClr val="082E4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JetBrains Mono"/>
              </a:rPr>
              <a:t>智能制造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307592"/>
            <a:ext cx="2103120" cy="292608"/>
          </a:xfrm>
          <a:prstGeom prst="roundRect">
            <a:avLst/>
          </a:prstGeom>
          <a:solidFill>
            <a:srgbClr val="082E4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JetBrains Mono"/>
              </a:rPr>
              <a:t>供应链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307592"/>
            <a:ext cx="2103120" cy="292608"/>
          </a:xfrm>
          <a:prstGeom prst="roundRect">
            <a:avLst/>
          </a:prstGeom>
          <a:solidFill>
            <a:srgbClr val="082E4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JetBrains Mono"/>
              </a:rPr>
              <a:t>企业大脑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846320" y="1719072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83480" y="173736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使用数据 / 知识 / 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1874519"/>
            <a:ext cx="9144000" cy="1371600"/>
          </a:xfrm>
          <a:prstGeom prst="roundRect">
            <a:avLst/>
          </a:prstGeom>
          <a:solidFill>
            <a:srgbClr val="031C22"/>
          </a:solidFill>
          <a:ln w="19050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911095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etBrains Mono"/>
              </a:rPr>
              <a:t>企业数据能力 / 数据中台层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9293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34D999"/>
                </a:solidFill>
                <a:latin typeface="JetBrains Mono"/>
              </a:rPr>
              <a:t>Data Middle Platform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103120"/>
            <a:ext cx="2103120" cy="502920"/>
          </a:xfrm>
          <a:prstGeom prst="roundRect">
            <a:avLst/>
          </a:prstGeom>
          <a:solidFill>
            <a:srgbClr val="062E26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主数据 MDM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Master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2103120"/>
            <a:ext cx="2103120" cy="502920"/>
          </a:xfrm>
          <a:prstGeom prst="roundRect">
            <a:avLst/>
          </a:prstGeom>
          <a:solidFill>
            <a:srgbClr val="062E26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Business Object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业务对象模型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103120"/>
            <a:ext cx="2103120" cy="502920"/>
          </a:xfrm>
          <a:prstGeom prst="roundRect">
            <a:avLst/>
          </a:prstGeom>
          <a:solidFill>
            <a:srgbClr val="062E26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指标体系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Metrics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2103120"/>
            <a:ext cx="2103120" cy="502920"/>
          </a:xfrm>
          <a:prstGeom prst="roundRect">
            <a:avLst/>
          </a:prstGeom>
          <a:solidFill>
            <a:srgbClr val="062E26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数据产品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Data Products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697479"/>
            <a:ext cx="2103120" cy="502920"/>
          </a:xfrm>
          <a:prstGeom prst="roundRect">
            <a:avLst/>
          </a:prstGeom>
          <a:solidFill>
            <a:srgbClr val="062E26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数据服务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Data API 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2697479"/>
            <a:ext cx="2103120" cy="502920"/>
          </a:xfrm>
          <a:prstGeom prst="roundRect">
            <a:avLst/>
          </a:prstGeom>
          <a:solidFill>
            <a:srgbClr val="062E26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数据资产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Data Assets / Catalog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697479"/>
            <a:ext cx="2103120" cy="502920"/>
          </a:xfrm>
          <a:prstGeom prst="roundRect">
            <a:avLst/>
          </a:prstGeom>
          <a:solidFill>
            <a:srgbClr val="062E26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数据质量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Data Quality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2697479"/>
            <a:ext cx="2103120" cy="502920"/>
          </a:xfrm>
          <a:prstGeom prst="roundRect">
            <a:avLst/>
          </a:prstGeom>
          <a:solidFill>
            <a:srgbClr val="062E26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数据治理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Data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17296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>
                <a:solidFill>
                  <a:srgbClr val="34D999"/>
                </a:solidFill>
                <a:latin typeface="JetBrains Mono"/>
              </a:rPr>
              <a:t>统一语义 · 统一标准 · 统一关系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4846320" y="3273552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983480" y="329184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企业统一数据语义 / 标准 / 关系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429000"/>
            <a:ext cx="9144000" cy="960120"/>
          </a:xfrm>
          <a:prstGeom prst="roundRect">
            <a:avLst/>
          </a:prstGeom>
          <a:solidFill>
            <a:srgbClr val="201215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4655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etBrains Mono"/>
              </a:rPr>
              <a:t>数据平台 / 数据底座层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48386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FBBF24"/>
                </a:solidFill>
                <a:latin typeface="JetBrains Mono"/>
              </a:rPr>
              <a:t>Data Platform / Foundation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657600"/>
            <a:ext cx="1691640" cy="411480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JetBrains Mono"/>
              </a:rPr>
              <a:t>数据集成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ODS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12264" y="3657600"/>
            <a:ext cx="1691640" cy="411480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JetBrains Mono"/>
              </a:rPr>
              <a:t>数据湖 / 湖仓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DWD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58768" y="3657600"/>
            <a:ext cx="1691640" cy="411480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JetBrains Mono"/>
              </a:rPr>
              <a:t>数据仓库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DWS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05272" y="3657600"/>
            <a:ext cx="1691640" cy="411480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JetBrains Mono"/>
              </a:rPr>
              <a:t>数据开发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ADS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1776" y="3657600"/>
            <a:ext cx="1691640" cy="411480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JetBrains Mono"/>
              </a:rPr>
              <a:t>数据计算</a:t>
            </a:r>
          </a:p>
          <a:p>
            <a:pPr algn="ctr"/>
            <a:r>
              <a:rPr sz="800" b="0">
                <a:solidFill>
                  <a:srgbClr val="94A3B8"/>
                </a:solidFill>
                <a:latin typeface="JetBrains Mono"/>
              </a:rPr>
              <a:t>ETL / ELT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087368"/>
            <a:ext cx="1371600" cy="256032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数据质量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83080" y="4087368"/>
            <a:ext cx="1371600" cy="256032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元数据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4087368"/>
            <a:ext cx="1371600" cy="256032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血缘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4087368"/>
            <a:ext cx="1371600" cy="256032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权限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4087368"/>
            <a:ext cx="1371600" cy="256032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存储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4087368"/>
            <a:ext cx="1371600" cy="256032"/>
          </a:xfrm>
          <a:prstGeom prst="roundRect">
            <a:avLst/>
          </a:prstGeom>
          <a:solidFill>
            <a:srgbClr val="321B0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API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4846320" y="4416552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83480" y="44348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数据接入 / 采集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572000"/>
            <a:ext cx="9144000" cy="548640"/>
          </a:xfrm>
          <a:prstGeom prst="roundRect">
            <a:avLst/>
          </a:prstGeom>
          <a:solidFill>
            <a:srgbClr val="10182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45994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etBrains Mono"/>
              </a:rPr>
              <a:t>企业数据源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6177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  <a:latin typeface="JetBrains Mono"/>
              </a:rPr>
              <a:t>Enterprise Data Sources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ERP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43584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PLM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21408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MES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99232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WMS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77056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altLang="zh-CN" sz="1000" b="0" dirty="0">
                <a:solidFill>
                  <a:srgbClr val="FFFFFF"/>
                </a:solidFill>
                <a:latin typeface="JetBrains Mono"/>
              </a:rPr>
              <a:t>APS</a:t>
            </a:r>
            <a:endParaRPr sz="1000" b="0" dirty="0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754880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SRM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32704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OA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10528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IoT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88352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Excel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66176" y="4818888"/>
            <a:ext cx="850392" cy="256032"/>
          </a:xfrm>
          <a:prstGeom prst="roundRect">
            <a:avLst/>
          </a:prstGeom>
          <a:solidFill>
            <a:srgbClr val="1B2538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文件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6920" y="1874519"/>
            <a:ext cx="2286000" cy="2514600"/>
          </a:xfrm>
          <a:prstGeom prst="roundRect">
            <a:avLst/>
          </a:prstGeom>
          <a:solidFill>
            <a:srgbClr val="180D3D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38360" y="192023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JetBrains Mono"/>
              </a:rPr>
              <a:t>企业知识 / LLM Wiki 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8360" y="2194560"/>
            <a:ext cx="2103120" cy="219456"/>
          </a:xfrm>
          <a:prstGeom prst="roundRect">
            <a:avLst/>
          </a:prstGeom>
          <a:solidFill>
            <a:srgbClr val="26154E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Entity · 实体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38360" y="2432304"/>
            <a:ext cx="2103120" cy="219456"/>
          </a:xfrm>
          <a:prstGeom prst="roundRect">
            <a:avLst/>
          </a:prstGeom>
          <a:solidFill>
            <a:srgbClr val="26154E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Relation · 关系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738360" y="2670048"/>
            <a:ext cx="2103120" cy="219456"/>
          </a:xfrm>
          <a:prstGeom prst="roundRect">
            <a:avLst/>
          </a:prstGeom>
          <a:solidFill>
            <a:srgbClr val="26154E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Claim · 断言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38360" y="2907791"/>
            <a:ext cx="2103120" cy="219456"/>
          </a:xfrm>
          <a:prstGeom prst="roundRect">
            <a:avLst/>
          </a:prstGeom>
          <a:solidFill>
            <a:srgbClr val="26154E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Evidence · 证据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738360" y="3145536"/>
            <a:ext cx="2103120" cy="219456"/>
          </a:xfrm>
          <a:prstGeom prst="roundRect">
            <a:avLst/>
          </a:prstGeom>
          <a:solidFill>
            <a:srgbClr val="26154E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Knowledge Page · 知识页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38360" y="3383280"/>
            <a:ext cx="2103120" cy="219456"/>
          </a:xfrm>
          <a:prstGeom prst="roundRect">
            <a:avLst/>
          </a:prstGeom>
          <a:solidFill>
            <a:srgbClr val="26154E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Authority · 权威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38360" y="3621024"/>
            <a:ext cx="2103120" cy="219456"/>
          </a:xfrm>
          <a:prstGeom prst="roundRect">
            <a:avLst/>
          </a:prstGeom>
          <a:solidFill>
            <a:srgbClr val="26154E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JetBrains Mono"/>
              </a:rPr>
              <a:t>Rule · 规则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789920" y="3858768"/>
            <a:ext cx="0" cy="219456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881360" y="391363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>
                <a:solidFill>
                  <a:srgbClr val="A78BFA"/>
                </a:solidFill>
                <a:latin typeface="JetBrains Mono"/>
              </a:rPr>
              <a:t>语义对齐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38360" y="4133088"/>
            <a:ext cx="2103120" cy="301752"/>
          </a:xfrm>
          <a:prstGeom prst="roundRect">
            <a:avLst/>
          </a:prstGeom>
          <a:solidFill>
            <a:srgbClr val="26154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企业数据 / Business Object</a:t>
            </a:r>
          </a:p>
          <a:p>
            <a:pPr algn="ctr"/>
            <a:r>
              <a:rPr sz="700">
                <a:solidFill>
                  <a:srgbClr val="94A3B8"/>
                </a:solidFill>
                <a:latin typeface="JetBrains Mono"/>
              </a:rPr>
              <a:t>知识实体 ↔ 业务对象 双向绑定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418320" y="2423160"/>
            <a:ext cx="228600" cy="0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418320" y="3863339"/>
            <a:ext cx="228600" cy="0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74320" y="52120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JetBrains Mono"/>
              </a:rPr>
              <a:t>Legend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" y="5248656"/>
            <a:ext cx="146304" cy="109728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97280" y="523036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企业应用层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23160" y="5248656"/>
            <a:ext cx="146304" cy="109728"/>
          </a:xfrm>
          <a:prstGeom prst="rect">
            <a:avLst/>
          </a:prstGeom>
          <a:solidFill>
            <a:srgbClr val="34D999"/>
          </a:solidFill>
          <a:ln w="6350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606040" y="523036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数据中台层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5248656"/>
            <a:ext cx="146304" cy="109728"/>
          </a:xfrm>
          <a:prstGeom prst="rect">
            <a:avLst/>
          </a:prstGeom>
          <a:solidFill>
            <a:srgbClr val="FBBF24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114800" y="523036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数据底座层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5248656"/>
            <a:ext cx="146304" cy="109728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623560" y="523036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企业数据源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49440" y="5248656"/>
            <a:ext cx="146304" cy="109728"/>
          </a:xfrm>
          <a:prstGeom prst="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132320" y="523036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企业知识 / LLM Wiki 层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418320" y="5303520"/>
            <a:ext cx="228600" cy="0"/>
          </a:xfrm>
          <a:prstGeom prst="line">
            <a:avLst/>
          </a:prstGeom>
          <a:ln w="19050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692640" y="523036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知识 ↔ 数据 双向绑定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0835640" y="530352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1109960" y="523036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JetBrains Mono"/>
              </a:rPr>
              <a:t>能力供给方向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4320" y="5413248"/>
            <a:ext cx="2926079" cy="1005840"/>
          </a:xfrm>
          <a:prstGeom prst="roundRect">
            <a:avLst/>
          </a:prstGeom>
          <a:solidFill>
            <a:srgbClr val="0F1A2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11479" y="55504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48640" y="547725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JetBrains Mono"/>
              </a:rPr>
              <a:t>四层主链路：从数据源到应用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912" y="5724144"/>
            <a:ext cx="26700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数据源：ERP / PLM / MES / WMS / CRM / SRM / OA / IoT / 文件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数据底座：ODS→DWD→DWS→ADS 分层 + ETL/ELT 计算引擎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数据中台：以 Business Object / 指标体系对外供数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企业应用：BI、经营分析、AI、Agent、企业大脑消费能力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383279" y="5413248"/>
            <a:ext cx="2926079" cy="1005840"/>
          </a:xfrm>
          <a:prstGeom prst="roundRect">
            <a:avLst/>
          </a:prstGeom>
          <a:solidFill>
            <a:srgbClr val="0F1A2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3520439" y="5550408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657599" y="547725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JetBrains Mono"/>
              </a:rPr>
              <a:t>数据中台：统一语义与治理闭环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47872" y="5724144"/>
            <a:ext cx="26700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MDM + Business Object 承载企业统一数据语义/标准/关系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指标体系保证口径一致，数据产品封装场景化供数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数据服务 / 资产 / 质量 / 治理四大能力闭环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向上层应用输出「使用数据/知识/能力」的统一入口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492240" y="5413248"/>
            <a:ext cx="2926079" cy="1005840"/>
          </a:xfrm>
          <a:prstGeom prst="roundRect">
            <a:avLst/>
          </a:prstGeom>
          <a:solidFill>
            <a:srgbClr val="0F1A2D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629400" y="555040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766559" y="547725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JetBrains Mono"/>
              </a:rPr>
              <a:t>知识层：LLM Wiki 与数据双向绑定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56831" y="5724144"/>
            <a:ext cx="26700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知识模型：Entity / Relation / Claim / Evidence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治理要素：Knowledge Page / Authority / 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知识实体与 Business Object 双向绑定、语义对齐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0">
                <a:solidFill>
                  <a:srgbClr val="94A3B8"/>
                </a:solidFill>
                <a:latin typeface="JetBrains Mono"/>
              </a:rPr>
              <a:t>• 为 AI 应用与 Agent 提供 grounded、可溯源的知识供给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JetBrains Mono"/>
              </a:rPr>
              <a:t>Enterprise Data &amp; Knowledge Architecture • 数据平台 + 数据中台 + LLM Wiki 知识层 •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317</Words>
  <Application>Microsoft Macintosh PowerPoint</Application>
  <PresentationFormat>宽屏</PresentationFormat>
  <Paragraphs>98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JetBrains Mono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启琳 孙</cp:lastModifiedBy>
  <cp:revision>2</cp:revision>
  <dcterms:created xsi:type="dcterms:W3CDTF">2013-01-27T09:14:16Z</dcterms:created>
  <dcterms:modified xsi:type="dcterms:W3CDTF">2026-09-17T04:47:55Z</dcterms:modified>
  <cp:category/>
</cp:coreProperties>
</file>